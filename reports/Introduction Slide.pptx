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0c5b535c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0c5b535c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0c5b535c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0c5b535c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0c5b535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0c5b535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0c5b535c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0c5b535c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0c5b535c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0c5b535c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0c5b535c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0c5b535c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0c5b535c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80c5b535c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0c5b535c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0c5b535c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0c5b535c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0c5b535c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					  CAD-Coder</a:t>
            </a:r>
            <a:endParaRPr/>
          </a:p>
          <a:p>
            <a:pPr indent="0" lvl="0" marL="0" rtl="0" algn="ctr">
              <a:spcBef>
                <a:spcPts val="0"/>
              </a:spcBef>
              <a:spcAft>
                <a:spcPts val="0"/>
              </a:spcAft>
              <a:buNone/>
            </a:pPr>
            <a:r>
              <a:rPr lang="en"/>
              <a:t>Deploying Diverse VLMs for CAD-Code Generation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Yuyan Fan, Jing Xu, Frank Chen, Aditya Palaparthi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solidFill>
                  <a:schemeClr val="dk1"/>
                </a:solidFill>
              </a:rPr>
              <a:t>We propose a two-phased project to deploy and advance the capabilities of Vision-Language Models (VLMs) for Computer-Aided Design (CAD) code generation. The first phase will establish a robust, deployable baseline by leveraging the publicly available, state-of-the-art </a:t>
            </a:r>
            <a:r>
              <a:rPr b="1" lang="en" sz="1100">
                <a:solidFill>
                  <a:schemeClr val="dk1"/>
                </a:solidFill>
              </a:rPr>
              <a:t>CAD-Coder</a:t>
            </a:r>
            <a:r>
              <a:rPr lang="en" sz="1100">
                <a:solidFill>
                  <a:schemeClr val="dk1"/>
                </a:solidFill>
              </a:rPr>
              <a:t> model, which has demonstrated superior performance in generating editable CAD code from visual inputs. The second phase will involve a focused research component to overcome current limitations, including model scalability and generalization to real-world images. We will fine-tune a range of </a:t>
            </a:r>
            <a:r>
              <a:rPr b="1" lang="en" sz="1100">
                <a:solidFill>
                  <a:schemeClr val="dk1"/>
                </a:solidFill>
              </a:rPr>
              <a:t>Qwen2.5-VL</a:t>
            </a:r>
            <a:r>
              <a:rPr lang="en" sz="1100">
                <a:solidFill>
                  <a:schemeClr val="dk1"/>
                </a:solidFill>
              </a:rPr>
              <a:t> models and optimize the training methodology, paving the way for a more versatile and powerful CAD automation tool.</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	</a:t>
            </a:r>
            <a:endParaRPr/>
          </a:p>
        </p:txBody>
      </p:sp>
      <p:sp>
        <p:nvSpPr>
          <p:cNvPr id="67" name="Google Shape;67;p15"/>
          <p:cNvSpPr txBox="1"/>
          <p:nvPr>
            <p:ph idx="1" type="body"/>
          </p:nvPr>
        </p:nvSpPr>
        <p:spPr>
          <a:xfrm>
            <a:off x="311700" y="1152475"/>
            <a:ext cx="48633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1100">
                <a:solidFill>
                  <a:schemeClr val="dk1"/>
                </a:solidFill>
              </a:rPr>
              <a:t>The manual creation of 3D CAD models is a time-consuming and expertise-intensive process, serving as a bottleneck in engineering design and product innovation. While recent AI-driven solutions show promise, they often suffer from key limitations:</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Lack of Generalizability:</a:t>
            </a:r>
            <a:r>
              <a:rPr lang="en" sz="1100">
                <a:solidFill>
                  <a:schemeClr val="dk1"/>
                </a:solidFill>
              </a:rPr>
              <a:t> Existing models often fail when faced with real-world images or when asked to perform CAD operations not explicitly seen during training.</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Non-Editable Outputs:</a:t>
            </a:r>
            <a:r>
              <a:rPr lang="en" sz="1100">
                <a:solidFill>
                  <a:schemeClr val="dk1"/>
                </a:solidFill>
              </a:rPr>
              <a:t> Many generative models produce non-editable formats like meshes or voxels, which are impractical for real-world engineering applications that demand modifiable designs.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Limited Accuracy:</a:t>
            </a:r>
            <a:r>
              <a:rPr lang="en" sz="1100">
                <a:solidFill>
                  <a:schemeClr val="dk1"/>
                </a:solidFill>
              </a:rPr>
              <a:t> Prior fine-tuned models can produce syntactically incorrect code, and off-the-shelf VLMs often hallucinate incorrect geometry or produce code with errors, limiting their reliability</a:t>
            </a:r>
            <a:endParaRPr sz="1100">
              <a:solidFill>
                <a:schemeClr val="dk1"/>
              </a:solidFill>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5415925" y="1484825"/>
            <a:ext cx="3664202" cy="20611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CAD-Coder Architecture</a:t>
            </a:r>
            <a:endParaRPr/>
          </a:p>
        </p:txBody>
      </p:sp>
      <p:pic>
        <p:nvPicPr>
          <p:cNvPr id="74" name="Google Shape;74;p16" title="Screenshot 2025-09-18 at 4.52.01 PM.png"/>
          <p:cNvPicPr preferRelativeResize="0"/>
          <p:nvPr/>
        </p:nvPicPr>
        <p:blipFill>
          <a:blip r:embed="rId3">
            <a:alphaModFix/>
          </a:blip>
          <a:stretch>
            <a:fillRect/>
          </a:stretch>
        </p:blipFill>
        <p:spPr>
          <a:xfrm>
            <a:off x="147525" y="1111219"/>
            <a:ext cx="9144003" cy="4094263"/>
          </a:xfrm>
          <a:prstGeom prst="rect">
            <a:avLst/>
          </a:prstGeom>
          <a:noFill/>
          <a:ln>
            <a:noFill/>
          </a:ln>
        </p:spPr>
      </p:pic>
      <p:sp>
        <p:nvSpPr>
          <p:cNvPr id="75" name="Google Shape;75;p16"/>
          <p:cNvSpPr/>
          <p:nvPr/>
        </p:nvSpPr>
        <p:spPr>
          <a:xfrm>
            <a:off x="147525" y="1085750"/>
            <a:ext cx="1211700" cy="747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Or Point Clouds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title="Screenshot 2025-09-18 at 4.56.37 PM.png"/>
          <p:cNvPicPr preferRelativeResize="0"/>
          <p:nvPr/>
        </p:nvPicPr>
        <p:blipFill>
          <a:blip r:embed="rId3">
            <a:alphaModFix/>
          </a:blip>
          <a:stretch>
            <a:fillRect/>
          </a:stretch>
        </p:blipFill>
        <p:spPr>
          <a:xfrm>
            <a:off x="309028" y="580250"/>
            <a:ext cx="4827901" cy="3500224"/>
          </a:xfrm>
          <a:prstGeom prst="rect">
            <a:avLst/>
          </a:prstGeom>
          <a:noFill/>
          <a:ln>
            <a:noFill/>
          </a:ln>
        </p:spPr>
      </p:pic>
      <p:sp>
        <p:nvSpPr>
          <p:cNvPr id="81" name="Google Shape;81;p17"/>
          <p:cNvSpPr txBox="1"/>
          <p:nvPr/>
        </p:nvSpPr>
        <p:spPr>
          <a:xfrm>
            <a:off x="5567775" y="1105900"/>
            <a:ext cx="3195600" cy="23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VSR = </a:t>
            </a:r>
            <a:r>
              <a:rPr lang="en">
                <a:solidFill>
                  <a:schemeClr val="dk1"/>
                </a:solidFill>
              </a:rPr>
              <a:t>SYNTACTICALLY-VALID</a:t>
            </a:r>
            <a:endParaRPr>
              <a:solidFill>
                <a:schemeClr val="dk1"/>
              </a:solidFill>
            </a:endParaRPr>
          </a:p>
          <a:p>
            <a:pPr indent="0" lvl="0" marL="0" rtl="0" algn="l">
              <a:lnSpc>
                <a:spcPct val="115000"/>
              </a:lnSpc>
              <a:spcBef>
                <a:spcPts val="0"/>
              </a:spcBef>
              <a:spcAft>
                <a:spcPts val="0"/>
              </a:spcAft>
              <a:buNone/>
            </a:pPr>
            <a:r>
              <a:rPr lang="en">
                <a:solidFill>
                  <a:schemeClr val="dk1"/>
                </a:solidFill>
              </a:rPr>
              <a:t>CADQUERY SCRIPTS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ACCURACY OF THE</a:t>
            </a:r>
            <a:endParaRPr>
              <a:solidFill>
                <a:schemeClr val="dk1"/>
              </a:solidFill>
            </a:endParaRPr>
          </a:p>
          <a:p>
            <a:pPr indent="0" lvl="0" marL="0" rtl="0" algn="l">
              <a:lnSpc>
                <a:spcPct val="115000"/>
              </a:lnSpc>
              <a:spcBef>
                <a:spcPts val="0"/>
              </a:spcBef>
              <a:spcAft>
                <a:spcPts val="0"/>
              </a:spcAft>
              <a:buNone/>
            </a:pPr>
            <a:r>
              <a:rPr lang="en">
                <a:solidFill>
                  <a:schemeClr val="dk1"/>
                </a:solidFill>
              </a:rPr>
              <a:t>RESULTING 3D SOLIDS (IOU_best)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61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Solution</a:t>
            </a:r>
            <a:endParaRPr/>
          </a:p>
        </p:txBody>
      </p:sp>
      <p:sp>
        <p:nvSpPr>
          <p:cNvPr id="87" name="Google Shape;87;p18"/>
          <p:cNvSpPr txBox="1"/>
          <p:nvPr>
            <p:ph idx="1" type="body"/>
          </p:nvPr>
        </p:nvSpPr>
        <p:spPr>
          <a:xfrm>
            <a:off x="311700" y="682525"/>
            <a:ext cx="8520600" cy="4317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Phase 1: Deployment &amp; Baseline Establishment</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Deploy CAD-Coder:</a:t>
            </a:r>
            <a:r>
              <a:rPr lang="en" sz="1100">
                <a:solidFill>
                  <a:schemeClr val="dk1"/>
                </a:solidFill>
              </a:rPr>
              <a:t> We will deploy the open-source CAD-Coder model, which has a proven track record of generating a </a:t>
            </a:r>
            <a:r>
              <a:rPr b="1" lang="en" sz="1100">
                <a:solidFill>
                  <a:schemeClr val="dk1"/>
                </a:solidFill>
              </a:rPr>
              <a:t>100% valid syntax rate</a:t>
            </a:r>
            <a:r>
              <a:rPr lang="en" sz="1100">
                <a:solidFill>
                  <a:schemeClr val="dk1"/>
                </a:solidFill>
              </a:rPr>
              <a:t> and achieving the highest geometric accuracy (IOUbest​) compared to other state-of-the-art VLMs like GPT-4.5 and Qwen2.5-VL-72B.</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Leverage GenCAD-Code Dataset:</a:t>
            </a:r>
            <a:r>
              <a:rPr lang="en" sz="1100">
                <a:solidFill>
                  <a:schemeClr val="dk1"/>
                </a:solidFill>
              </a:rPr>
              <a:t> The model will be deployed using the public </a:t>
            </a:r>
            <a:r>
              <a:rPr b="1" lang="en" sz="1100">
                <a:solidFill>
                  <a:schemeClr val="dk1"/>
                </a:solidFill>
              </a:rPr>
              <a:t>GenCAD-Code dataset</a:t>
            </a:r>
            <a:r>
              <a:rPr lang="en" sz="1100">
                <a:solidFill>
                  <a:schemeClr val="dk1"/>
                </a:solidFill>
              </a:rPr>
              <a:t>, which contains over 163,000 pairs of CAD images and their corresponding CadQuery Python code. This dataset is the largest of its kind and is crucial for the model's performance</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272350" y="71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Solution Continued</a:t>
            </a:r>
            <a:endParaRPr/>
          </a:p>
        </p:txBody>
      </p:sp>
      <p:sp>
        <p:nvSpPr>
          <p:cNvPr id="93" name="Google Shape;93;p19"/>
          <p:cNvSpPr txBox="1"/>
          <p:nvPr>
            <p:ph idx="1" type="body"/>
          </p:nvPr>
        </p:nvSpPr>
        <p:spPr>
          <a:xfrm>
            <a:off x="311700" y="731700"/>
            <a:ext cx="8520600" cy="4287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Phase 2: Advanced Research &amp; Development</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We will explore fine-tuning strategies for a range of Qwen2.5-VL models.</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Objective 1: Model Optimization and Scalability</a:t>
            </a:r>
            <a:endParaRPr b="1"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Hypothesis:</a:t>
            </a:r>
            <a:r>
              <a:rPr lang="en" sz="1100">
                <a:solidFill>
                  <a:schemeClr val="dk1"/>
                </a:solidFill>
              </a:rPr>
              <a:t> A larger, more powerful VLM, if properly fine-tuned, can achieve even better performance and generalization than CAD-Coder.</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Methodology:</a:t>
            </a:r>
            <a:r>
              <a:rPr lang="en" sz="1100">
                <a:solidFill>
                  <a:schemeClr val="dk1"/>
                </a:solidFill>
              </a:rPr>
              <a:t> We will fine-tune a series of open-source </a:t>
            </a:r>
            <a:r>
              <a:rPr b="1" lang="en" sz="1100">
                <a:solidFill>
                  <a:schemeClr val="dk1"/>
                </a:solidFill>
              </a:rPr>
              <a:t>Qwen2.5-VL</a:t>
            </a:r>
            <a:r>
              <a:rPr lang="en" sz="1100">
                <a:solidFill>
                  <a:schemeClr val="dk1"/>
                </a:solidFill>
              </a:rPr>
              <a:t> models in different sizes, including the </a:t>
            </a:r>
            <a:r>
              <a:rPr b="1" lang="en" sz="1100">
                <a:solidFill>
                  <a:schemeClr val="dk1"/>
                </a:solidFill>
              </a:rPr>
              <a:t>3B, 7B, 14B, 32B, and 72B</a:t>
            </a:r>
            <a:r>
              <a:rPr lang="en" sz="1100">
                <a:solidFill>
                  <a:schemeClr val="dk1"/>
                </a:solidFill>
              </a:rPr>
              <a:t> variants. This will allow us to find the optimal balance between performance and computational cost.</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Address Hardware Constraints:</a:t>
            </a:r>
            <a:r>
              <a:rPr lang="en" sz="1100">
                <a:solidFill>
                  <a:schemeClr val="dk1"/>
                </a:solidFill>
              </a:rPr>
              <a:t> To mitigate memory issues with the larger models, we will investigate and implement advanced fine-tuning techniques like </a:t>
            </a:r>
            <a:r>
              <a:rPr b="1" lang="en" sz="1100">
                <a:solidFill>
                  <a:schemeClr val="dk1"/>
                </a:solidFill>
              </a:rPr>
              <a:t>LoRA (Low-Rank Adaptation)</a:t>
            </a:r>
            <a:r>
              <a:rPr lang="en" sz="1100">
                <a:solidFill>
                  <a:schemeClr val="dk1"/>
                </a:solidFill>
              </a:rPr>
              <a:t> and </a:t>
            </a:r>
            <a:r>
              <a:rPr b="1" lang="en" sz="1100">
                <a:solidFill>
                  <a:schemeClr val="dk1"/>
                </a:solidFill>
              </a:rPr>
              <a:t>QLoRA (Quantized LoRA)</a:t>
            </a:r>
            <a:r>
              <a:rPr lang="en" sz="1100">
                <a:solidFill>
                  <a:schemeClr val="dk1"/>
                </a:solidFill>
              </a:rPr>
              <a:t>, which significantly reduce the memory footprint by training only a small portion of the model's weights while keeping the base model frozen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Proposed Solution Continued</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Phase 2: Advanced Research &amp; Development Continued</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Objective 2: Enhanced Generalization</a:t>
            </a:r>
            <a:endParaRPr b="1" sz="1100">
              <a:solidFill>
                <a:schemeClr val="dk1"/>
              </a:solidFill>
            </a:endParaRPr>
          </a:p>
          <a:p>
            <a:pPr indent="-298450" lvl="0" marL="914400" rtl="0" algn="l">
              <a:spcBef>
                <a:spcPts val="0"/>
              </a:spcBef>
              <a:spcAft>
                <a:spcPts val="0"/>
              </a:spcAft>
              <a:buClr>
                <a:schemeClr val="dk1"/>
              </a:buClr>
              <a:buSzPts val="1100"/>
              <a:buChar char="●"/>
            </a:pPr>
            <a:r>
              <a:rPr b="1" lang="en" sz="1100">
                <a:solidFill>
                  <a:schemeClr val="dk1"/>
                </a:solidFill>
              </a:rPr>
              <a:t>Hypothesis:</a:t>
            </a:r>
            <a:r>
              <a:rPr lang="en" sz="1100">
                <a:solidFill>
                  <a:schemeClr val="dk1"/>
                </a:solidFill>
              </a:rPr>
              <a:t> By tuning hyperparameters and training for more epochs, we can preserve the model's pre-trained knowledge, improving its ability to handle unseen tasks.</a:t>
            </a:r>
            <a:endParaRPr sz="1100">
              <a:solidFill>
                <a:schemeClr val="dk1"/>
              </a:solidFill>
            </a:endParaRPr>
          </a:p>
          <a:p>
            <a:pPr indent="-298450" lvl="0" marL="914400" rtl="0" algn="l">
              <a:spcBef>
                <a:spcPts val="0"/>
              </a:spcBef>
              <a:spcAft>
                <a:spcPts val="0"/>
              </a:spcAft>
              <a:buClr>
                <a:schemeClr val="dk1"/>
              </a:buClr>
              <a:buSzPts val="1100"/>
              <a:buChar char="●"/>
            </a:pPr>
            <a:r>
              <a:rPr b="1" lang="en" sz="1100">
                <a:solidFill>
                  <a:schemeClr val="dk1"/>
                </a:solidFill>
              </a:rPr>
              <a:t>Methodology:</a:t>
            </a:r>
            <a:r>
              <a:rPr lang="en" sz="1100">
                <a:solidFill>
                  <a:schemeClr val="dk1"/>
                </a:solidFill>
              </a:rPr>
              <a:t> We will move beyond the single-epoch training used in the original paper to explore the effects of training for more epochs. We will also perform hyperparameter tuning on the learning rate and effective batch size. The original paper's findings showed that a lower learning rate during fine-tuning helped a Qwen-based model retain knowledge of unseen CAD operations, though it came with a performance trade-off. We will systematically investigate this trade-off to find the sweet spot for generalizability.</a:t>
            </a:r>
            <a:endParaRPr sz="1100">
              <a:solidFill>
                <a:schemeClr val="dk1"/>
              </a:solidFill>
            </a:endParaRPr>
          </a:p>
          <a:p>
            <a:pPr indent="-298450" lvl="0" marL="914400" rtl="0" algn="l">
              <a:spcBef>
                <a:spcPts val="0"/>
              </a:spcBef>
              <a:spcAft>
                <a:spcPts val="0"/>
              </a:spcAft>
              <a:buClr>
                <a:schemeClr val="dk1"/>
              </a:buClr>
              <a:buSzPts val="1100"/>
              <a:buChar char="●"/>
            </a:pPr>
            <a:r>
              <a:rPr b="1" lang="en" sz="1100">
                <a:solidFill>
                  <a:schemeClr val="dk1"/>
                </a:solidFill>
              </a:rPr>
              <a:t>Real-World Image Capability:</a:t>
            </a:r>
            <a:r>
              <a:rPr lang="en" sz="1100">
                <a:solidFill>
                  <a:schemeClr val="dk1"/>
                </a:solidFill>
              </a:rPr>
              <a:t> We will explore methods to improve the model's ability to infer precise dimensions and proportions from real-world images with varying perspectives, a known limitation of the current model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title="Screenshot 2025-09-18 at 6.15.53 PM.png"/>
          <p:cNvPicPr preferRelativeResize="0"/>
          <p:nvPr/>
        </p:nvPicPr>
        <p:blipFill>
          <a:blip r:embed="rId3">
            <a:alphaModFix/>
          </a:blip>
          <a:stretch>
            <a:fillRect/>
          </a:stretch>
        </p:blipFill>
        <p:spPr>
          <a:xfrm>
            <a:off x="740600" y="677750"/>
            <a:ext cx="7502751" cy="378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300"/>
              <a:t>Technical Plan &amp; Resources</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Hardware:</a:t>
            </a:r>
            <a:r>
              <a:rPr lang="en" sz="1100">
                <a:solidFill>
                  <a:schemeClr val="dk1"/>
                </a:solidFill>
              </a:rPr>
              <a:t> The project will be executed using </a:t>
            </a:r>
            <a:r>
              <a:rPr b="1" lang="en" sz="1100">
                <a:solidFill>
                  <a:schemeClr val="dk1"/>
                </a:solidFill>
              </a:rPr>
              <a:t>4 x 80 GB A100/H100 GPUs</a:t>
            </a:r>
            <a:r>
              <a:rPr lang="en" sz="1100">
                <a:solidFill>
                  <a:schemeClr val="dk1"/>
                </a:solidFill>
              </a:rPr>
              <a:t>, providing the necessary computational power and memory to train and experiment with large-scale VLMs.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Dataset:</a:t>
            </a:r>
            <a:r>
              <a:rPr lang="en" sz="1100">
                <a:solidFill>
                  <a:schemeClr val="dk1"/>
                </a:solidFill>
              </a:rPr>
              <a:t> We will primarily use the </a:t>
            </a:r>
            <a:r>
              <a:rPr b="1" lang="en" sz="1100">
                <a:solidFill>
                  <a:schemeClr val="dk1"/>
                </a:solidFill>
              </a:rPr>
              <a:t>GenCAD-Code dataset</a:t>
            </a:r>
            <a:r>
              <a:rPr lang="en" sz="1100">
                <a:solidFill>
                  <a:schemeClr val="dk1"/>
                </a:solidFill>
              </a:rPr>
              <a:t> (hosted on GitHub), which is also available on Hugging Face, to ensure a standardized and reproducible fine-tuning process.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Methodology:</a:t>
            </a:r>
            <a:r>
              <a:rPr lang="en" sz="1100">
                <a:solidFill>
                  <a:schemeClr val="dk1"/>
                </a:solidFill>
              </a:rPr>
              <a:t> We will follow a two-stage training approach similar to the CAD-Coder paper, which aligns the vision encoder's features with the LLM's word embeddings before end-to-end supervised fine-tuning. We will specifically track </a:t>
            </a:r>
            <a:br>
              <a:rPr lang="en" sz="1100">
                <a:solidFill>
                  <a:schemeClr val="dk1"/>
                </a:solidFill>
              </a:rPr>
            </a:br>
            <a:r>
              <a:rPr b="1" lang="en" sz="1100">
                <a:solidFill>
                  <a:schemeClr val="dk1"/>
                </a:solidFill>
              </a:rPr>
              <a:t>Valid Syntax Rate (VSR)</a:t>
            </a:r>
            <a:r>
              <a:rPr lang="en" sz="1100">
                <a:solidFill>
                  <a:schemeClr val="dk1"/>
                </a:solidFill>
              </a:rPr>
              <a:t> and </a:t>
            </a:r>
            <a:r>
              <a:rPr b="1" lang="en" sz="1100">
                <a:solidFill>
                  <a:schemeClr val="dk1"/>
                </a:solidFill>
              </a:rPr>
              <a:t>IOUbest​</a:t>
            </a:r>
            <a:r>
              <a:rPr lang="en" sz="1100">
                <a:solidFill>
                  <a:schemeClr val="dk1"/>
                </a:solidFill>
              </a:rPr>
              <a:t> to quantitatively measure our progress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